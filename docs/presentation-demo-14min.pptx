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Cloud IoT Energy Platform - 14 Minute Presentation + Demo Plan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Team Roles and Time Split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328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Presentation Part A (problem, architecture, firmware strategy)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 min 30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Presentation Part B (automation logic, evidence, handoff)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 min 30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3 (You)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demo (simulated energy device + end-to-end flow)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 min 00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14 min 00 sec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Core Message to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not just a dashboard project. It is an end-to-end, auditable IoT operations platform where telemetry is converted into automated, traceable control actions.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14-Minute Run of Show (Exact Timeline)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Line to Say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00:00-00:40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Opening + problem framing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“Most IoT systems stop at visualization. We built a system that senses, decides, and acts.”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00:40-01:40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end-to-end architecture (Figure 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“Telemetry, automation, control dispatch, feedback reconciliation, and reporting are in one platform boundary.”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01:40-02:30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Explain firmware architecture (common runtime + device modules)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“We separated reusable ESP32 connectivity/runtime logic from device-specific modules.”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02:30-03:20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Explain 15-minute automation rule + command lifecycle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 system computes a windowed energy delta and triggers RGB control only when threshold conditions pass.”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03:20-04:20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evidence views: dashboard, control lifecycle, 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“Every decision branch is visible: telemetry in, rule evaluation, command out, and device state back.”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04:20-05:00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 handoff + success criteria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“Watch for four checkpoints: telemetry spike, rule pass, command dispatch, and feedback acknowledgment.”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05:00-14:00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End-to-end simulated operation proving ingestion -&gt; decision -&gt; action -&gt; evidence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Slide Plan for the First 5 Minutes (Members 1 and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5 slides max to keep pace.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 (00:00-00:40) - Problem and Objective</a:t>
            </a:r>
          </a:p>
          <a:p>
            <a:pPr lvl="0"/>
            <a:r>
              <a:rPr/>
              <a:t>Telemetry-only systems are slow for operations.</a:t>
            </a:r>
          </a:p>
          <a:p>
            <a:pPr lvl="0"/>
            <a:r>
              <a:rPr/>
              <a:t>Project objective: automatic reaction based on energy behavior.</a:t>
            </a:r>
          </a:p>
          <a:p>
            <a:pPr lvl="0"/>
            <a:r>
              <a:rPr/>
              <a:t>Scenario: 15-minute consumption rule triggers RGB actuator command.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 (00:40-01:40) - System Architecture (from </a:t>
            </a:r>
            <a:r>
              <a:rPr b="1">
                <a:latin typeface="Courier"/>
              </a:rPr>
              <a:t>docs/report-images/figure2-end-to-end-architecture.png</a:t>
            </a:r>
            <a:r>
              <a:rPr b="1"/>
              <a:t>)</a:t>
            </a:r>
          </a:p>
          <a:p>
            <a:pPr lvl="0"/>
            <a:r>
              <a:rPr/>
              <a:t>Device telemetry via MQTT-style topics.</a:t>
            </a:r>
          </a:p>
          <a:p>
            <a:pPr lvl="0"/>
            <a:r>
              <a:rPr/>
              <a:t>Ingestion + validation + persistence.</a:t>
            </a:r>
          </a:p>
          <a:p>
            <a:pPr lvl="0"/>
            <a:r>
              <a:rPr/>
              <a:t>Automation runtime + command dispatch.</a:t>
            </a:r>
          </a:p>
          <a:p>
            <a:pPr lvl="0"/>
            <a:r>
              <a:rPr/>
              <a:t>Dashboard + reporting from the same canonical telemetry source.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 (01:40-02:30) - Firmware Strategy</a:t>
            </a:r>
          </a:p>
          <a:p>
            <a:pPr lvl="0"/>
            <a:r>
              <a:rPr/>
              <a:t>Common ESP32 runtime handles WiFi/MQTT lifecycle, LWT/presence, retry behavior.</a:t>
            </a:r>
          </a:p>
          <a:p>
            <a:pPr lvl="0"/>
            <a:r>
              <a:rPr/>
              <a:t>RGB actuator module handles control + acknowledgment.</a:t>
            </a:r>
          </a:p>
          <a:p>
            <a:pPr lvl="0"/>
            <a:r>
              <a:rPr/>
              <a:t>Single-phase meter module handles PZEM RS485 Modbus read path.</a:t>
            </a:r>
          </a:p>
          <a:p>
            <a:pPr lvl="0"/>
            <a:r>
              <a:rPr/>
              <a:t>Benefit: reusable onboarding and lower fleet maintenance cost.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4 (02:30-03:20) - Automation Logic</a:t>
            </a:r>
          </a:p>
          <a:p>
            <a:pPr lvl="0"/>
            <a:r>
              <a:rPr/>
              <a:t>Rolling 15-minute computation: </a:t>
            </a:r>
            <a:r>
              <a:rPr>
                <a:latin typeface="Courier"/>
              </a:rPr>
              <a:t>MAX(total_energy_kwh) - MIN(total_energy_kwh)</a:t>
            </a:r>
            <a:r>
              <a:rPr/>
              <a:t>.</a:t>
            </a:r>
          </a:p>
          <a:p>
            <a:pPr lvl="0"/>
            <a:r>
              <a:rPr/>
              <a:t>Pass branch -&gt; dispatch alert command to RGB device.</a:t>
            </a:r>
          </a:p>
          <a:p>
            <a:pPr lvl="0"/>
            <a:r>
              <a:rPr/>
              <a:t>Fail branch -&gt; no command (safe negative path).</a:t>
            </a:r>
          </a:p>
          <a:p>
            <a:pPr lvl="0"/>
            <a:r>
              <a:rPr/>
              <a:t>All steps are traceable in run-step and command lifecycle records.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5 (03:20-05:00) - Evidence + Demo Setup</a:t>
            </a:r>
          </a:p>
          <a:p>
            <a:pPr lvl="0"/>
            <a:r>
              <a:rPr/>
              <a:t>Show screenshots quickly:</a:t>
            </a:r>
          </a:p>
          <a:p>
            <a:pPr lvl="1"/>
            <a:r>
              <a:rPr/>
              <a:t>Dashboard (</a:t>
            </a:r>
            <a:r>
              <a:rPr>
                <a:latin typeface="Courier"/>
              </a:rPr>
              <a:t>figure4-iot-dashboard.png</a:t>
            </a:r>
            <a:r>
              <a:rPr/>
              <a:t>)</a:t>
            </a:r>
          </a:p>
          <a:p>
            <a:pPr lvl="1"/>
            <a:r>
              <a:rPr/>
              <a:t>Control feedback (</a:t>
            </a:r>
            <a:r>
              <a:rPr>
                <a:latin typeface="Courier"/>
              </a:rPr>
              <a:t>figure5-device-control-feedback.png</a:t>
            </a:r>
            <a:r>
              <a:rPr/>
              <a:t>)</a:t>
            </a:r>
          </a:p>
          <a:p>
            <a:pPr lvl="1"/>
            <a:r>
              <a:rPr/>
              <a:t>Reports (</a:t>
            </a:r>
            <a:r>
              <a:rPr>
                <a:latin typeface="Courier"/>
              </a:rPr>
              <a:t>figure6-reports-page.png</a:t>
            </a:r>
            <a:r>
              <a:rPr/>
              <a:t>)</a:t>
            </a:r>
          </a:p>
          <a:p>
            <a:pPr lvl="0"/>
            <a:r>
              <a:rPr/>
              <a:t>State the live success criteria before handoff.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9-Minute Demo Script (Member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Goal</a:t>
            </a:r>
          </a:p>
          <a:p>
            <a:pPr lvl="0" indent="0" marL="0">
              <a:buNone/>
            </a:pPr>
            <a:r>
              <a:rPr/>
              <a:t>Prove that simulated telemetry can trigger deterministic automation and produce auditable control/reporting evidence.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05:00-05:50 - Baseline State</a:t>
            </a:r>
          </a:p>
          <a:p>
            <a:pPr lvl="0"/>
            <a:r>
              <a:rPr/>
              <a:t>Open dashboard and show current normal values.</a:t>
            </a:r>
          </a:p>
          <a:p>
            <a:pPr lvl="0"/>
            <a:r>
              <a:rPr/>
              <a:t>Open automation/control view in another tab.</a:t>
            </a:r>
          </a:p>
          <a:p>
            <a:pPr lvl="0"/>
            <a:r>
              <a:rPr/>
              <a:t>Say: “We start from a safe baseline with no alert command active.”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05:50-06:50 - Start Simulation</a:t>
            </a:r>
          </a:p>
          <a:p>
            <a:pPr lvl="0"/>
            <a:r>
              <a:rPr/>
              <a:t>Start/publish simulated meter stream with increasing </a:t>
            </a:r>
            <a:r>
              <a:rPr>
                <a:latin typeface="Courier"/>
              </a:rPr>
              <a:t>total_energy_kwh</a:t>
            </a:r>
            <a:r>
              <a:rPr/>
              <a:t>.</a:t>
            </a:r>
          </a:p>
          <a:p>
            <a:pPr lvl="0"/>
            <a:r>
              <a:rPr/>
              <a:t>Mention key telemetry fields: </a:t>
            </a:r>
            <a:r>
              <a:rPr>
                <a:latin typeface="Courier"/>
              </a:rPr>
              <a:t>voltage_v</a:t>
            </a:r>
            <a:r>
              <a:rPr/>
              <a:t>, </a:t>
            </a:r>
            <a:r>
              <a:rPr>
                <a:latin typeface="Courier"/>
              </a:rPr>
              <a:t>current_a</a:t>
            </a:r>
            <a:r>
              <a:rPr/>
              <a:t>, </a:t>
            </a:r>
            <a:r>
              <a:rPr>
                <a:latin typeface="Courier"/>
              </a:rPr>
              <a:t>active_power_w</a:t>
            </a:r>
            <a:r>
              <a:rPr/>
              <a:t>, </a:t>
            </a:r>
            <a:r>
              <a:rPr>
                <a:latin typeface="Courier"/>
              </a:rPr>
              <a:t>total_energy_kwh</a:t>
            </a:r>
            <a:r>
              <a:rPr/>
              <a:t>, </a:t>
            </a:r>
            <a:r>
              <a:rPr>
                <a:latin typeface="Courier"/>
              </a:rPr>
              <a:t>read_ok</a:t>
            </a:r>
            <a:r>
              <a:rPr/>
              <a:t>.</a:t>
            </a:r>
          </a:p>
          <a:p>
            <a:pPr lvl="0"/>
            <a:r>
              <a:rPr/>
              <a:t>Say: “This is a simulated meter device, using the same contract as a real device.”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06:50-08:00 - Show Ingestion and Realtime Updates</a:t>
            </a:r>
          </a:p>
          <a:p>
            <a:pPr lvl="0"/>
            <a:r>
              <a:rPr/>
              <a:t>Show new points appearing in dashboard/realtime widgets.</a:t>
            </a:r>
          </a:p>
          <a:p>
            <a:pPr lvl="0"/>
            <a:r>
              <a:rPr/>
              <a:t>Confirm ingestion continuity and no manual refresh dependency.</a:t>
            </a:r>
          </a:p>
          <a:p>
            <a:pPr lvl="0"/>
            <a:r>
              <a:rPr/>
              <a:t>Say: “The platform is ingesting and visualizing in near real-time.”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08:00-09:20 - Trigger the 15-Minute Rule</a:t>
            </a:r>
          </a:p>
          <a:p>
            <a:pPr lvl="0"/>
            <a:r>
              <a:rPr/>
              <a:t>Show the automation run / condition evaluation.</a:t>
            </a:r>
          </a:p>
          <a:p>
            <a:pPr lvl="0"/>
            <a:r>
              <a:rPr/>
              <a:t>Highlight threshold pass event.</a:t>
            </a:r>
          </a:p>
          <a:p>
            <a:pPr lvl="0"/>
            <a:r>
              <a:rPr/>
              <a:t>Say: “Now the 15-minute delta crosses threshold, so the workflow moves to command dispatch.”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09:20-10:30 - Command Dispatch to RGB Actuator</a:t>
            </a:r>
          </a:p>
          <a:p>
            <a:pPr lvl="0"/>
            <a:r>
              <a:rPr/>
              <a:t>Show command created/sent.</a:t>
            </a:r>
          </a:p>
          <a:p>
            <a:pPr lvl="0"/>
            <a:r>
              <a:rPr/>
              <a:t>Show actuator state update/acknowledgment.</a:t>
            </a:r>
          </a:p>
          <a:p>
            <a:pPr lvl="0"/>
            <a:r>
              <a:rPr/>
              <a:t>Say: “This confirms control is based on validated logic, not just dashboard observation.”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10:30-11:40 - Lifecycle and Feedback Reconciliation</a:t>
            </a:r>
          </a:p>
          <a:p>
            <a:pPr lvl="0"/>
            <a:r>
              <a:rPr/>
              <a:t>Show command lifecycle states and matching feedback record.</a:t>
            </a:r>
          </a:p>
          <a:p>
            <a:pPr lvl="0"/>
            <a:r>
              <a:rPr/>
              <a:t>Emphasize traceability.</a:t>
            </a:r>
          </a:p>
          <a:p>
            <a:pPr lvl="0"/>
            <a:r>
              <a:rPr/>
              <a:t>Say: “We can audit what was sent, when it was sent, and what the device reported back.”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11:40-12:30 - Reporting Evidence</a:t>
            </a:r>
          </a:p>
          <a:p>
            <a:pPr lvl="0"/>
            <a:r>
              <a:rPr/>
              <a:t>Generate/open CSV report output from reporting pipeline.</a:t>
            </a:r>
          </a:p>
          <a:p>
            <a:pPr lvl="0"/>
            <a:r>
              <a:rPr/>
              <a:t>Show status progression (</a:t>
            </a:r>
            <a:r>
              <a:rPr>
                <a:latin typeface="Courier"/>
              </a:rPr>
              <a:t>queued</a:t>
            </a:r>
            <a:r>
              <a:rPr/>
              <a:t>, </a:t>
            </a:r>
            <a:r>
              <a:rPr>
                <a:latin typeface="Courier"/>
              </a:rPr>
              <a:t>running</a:t>
            </a:r>
            <a:r>
              <a:rPr/>
              <a:t>, </a:t>
            </a:r>
            <a:r>
              <a:rPr>
                <a:latin typeface="Courier"/>
              </a:rPr>
              <a:t>completed</a:t>
            </a:r>
            <a:r>
              <a:rPr/>
              <a:t>).</a:t>
            </a:r>
          </a:p>
          <a:p>
            <a:pPr lvl="0"/>
            <a:r>
              <a:rPr/>
              <a:t>Say: “The same telemetry also feeds asynchronous export evidence for operations and reporting.”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12:30-13:20 - Negative Path (No False Trigger)</a:t>
            </a:r>
          </a:p>
          <a:p>
            <a:pPr lvl="0"/>
            <a:r>
              <a:rPr/>
              <a:t>Reduce simulation load or show a run where condition does not pass.</a:t>
            </a:r>
          </a:p>
          <a:p>
            <a:pPr lvl="0"/>
            <a:r>
              <a:rPr/>
              <a:t>Confirm no control command is sent.</a:t>
            </a:r>
          </a:p>
          <a:p>
            <a:pPr lvl="0"/>
            <a:r>
              <a:rPr/>
              <a:t>Say: “When threshold does not pass, the system correctly avoids side effects.”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13:20-14:00 - Close</a:t>
            </a:r>
          </a:p>
          <a:p>
            <a:pPr lvl="0"/>
            <a:r>
              <a:rPr/>
              <a:t>Summarize in one sentence: “We demonstrated full-loop IoT operations: ingest, decide, act, and verify.”</a:t>
            </a:r>
          </a:p>
          <a:p>
            <a:pPr lvl="0"/>
            <a:r>
              <a:rPr/>
              <a:t>Invite Q&amp;A.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Demo Safety Checklist (Do This Before Presenting)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30-60 minutes before</a:t>
            </a:r>
          </a:p>
          <a:p>
            <a:pPr lvl="0"/>
            <a:r>
              <a:rPr/>
              <a:t>Confirm platform services are running.</a:t>
            </a:r>
          </a:p>
          <a:p>
            <a:pPr lvl="0"/>
            <a:r>
              <a:rPr/>
              <a:t>Confirm at least one dashboard dataset is visible.</a:t>
            </a:r>
          </a:p>
          <a:p>
            <a:pPr lvl="0"/>
            <a:r>
              <a:rPr/>
              <a:t>Confirm automation workflow is enabled and threshold is set for a visible demo trigger.</a:t>
            </a:r>
          </a:p>
          <a:p>
            <a:pPr lvl="0"/>
            <a:r>
              <a:rPr/>
              <a:t>Confirm simulated device publishing works on the expected topic.</a:t>
            </a:r>
          </a:p>
          <a:p>
            <a:pPr lvl="0"/>
            <a:r>
              <a:rPr/>
              <a:t>Confirm RGB control target device is online/presence visible.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 minutes before</a:t>
            </a:r>
          </a:p>
          <a:p>
            <a:pPr lvl="0"/>
            <a:r>
              <a:rPr/>
              <a:t>Open tabs in order:</a:t>
            </a:r>
          </a:p>
          <a:p>
            <a:pPr lvl="1" indent="-342900" marL="685800">
              <a:buAutoNum type="arabicPeriod"/>
            </a:pPr>
            <a:r>
              <a:rPr/>
              <a:t>Dashboard</a:t>
            </a:r>
          </a:p>
          <a:p>
            <a:pPr lvl="1" indent="-342900" marL="685800">
              <a:buAutoNum type="arabicPeriod"/>
            </a:pPr>
            <a:r>
              <a:rPr/>
              <a:t>Automation run/condition view</a:t>
            </a:r>
          </a:p>
          <a:p>
            <a:pPr lvl="1" indent="-342900" marL="685800">
              <a:buAutoNum type="arabicPeriod"/>
            </a:pPr>
            <a:r>
              <a:rPr/>
              <a:t>Device control lifecycle view</a:t>
            </a:r>
          </a:p>
          <a:p>
            <a:pPr lvl="1" indent="-342900" marL="685800">
              <a:buAutoNum type="arabicPeriod"/>
            </a:pPr>
            <a:r>
              <a:rPr/>
              <a:t>Reports page</a:t>
            </a:r>
          </a:p>
          <a:p>
            <a:pPr lvl="0"/>
            <a:r>
              <a:rPr/>
              <a:t>Pre-position windows to avoid navigation delay.</a:t>
            </a:r>
          </a:p>
          <a:p>
            <a:pPr lvl="0"/>
            <a:r>
              <a:rPr/>
              <a:t>Clear stale runs/log clutter if needed so new evidence is obvious.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Backup Plan (If Live Demo Fails)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any live part fails, continue without stopping the flow: - Use existing screenshots from </a:t>
            </a:r>
            <a:r>
              <a:rPr>
                <a:latin typeface="Courier"/>
              </a:rPr>
              <a:t>docs/report-images/</a:t>
            </a:r>
            <a:r>
              <a:rPr/>
              <a:t> in this order: 1. </a:t>
            </a:r>
            <a:r>
              <a:rPr>
                <a:latin typeface="Courier"/>
              </a:rPr>
              <a:t>figure4-iot-dashboard.png</a:t>
            </a:r>
            <a:r>
              <a:rPr/>
              <a:t> 2. </a:t>
            </a:r>
            <a:r>
              <a:rPr>
                <a:latin typeface="Courier"/>
              </a:rPr>
              <a:t>figure3-automation-dag.png</a:t>
            </a:r>
            <a:r>
              <a:rPr/>
              <a:t> 3. </a:t>
            </a:r>
            <a:r>
              <a:rPr>
                <a:latin typeface="Courier"/>
              </a:rPr>
              <a:t>figure5-device-control-feedback.png</a:t>
            </a:r>
            <a:r>
              <a:rPr/>
              <a:t> 4. </a:t>
            </a:r>
            <a:r>
              <a:rPr>
                <a:latin typeface="Courier"/>
              </a:rPr>
              <a:t>figure6-reports-page.png</a:t>
            </a:r>
            <a:r>
              <a:rPr/>
              <a:t> - Narrate the same four checkpoints: telemetry ingestion, rule pass, command dispatch, feedback/report evidence. - Keep the close unchanged.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Short Speaking Script by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Member 1 (2:30)</a:t>
            </a:r>
          </a:p>
          <a:p>
            <a:pPr lvl="0" indent="0" marL="0">
              <a:buNone/>
            </a:pPr>
            <a:r>
              <a:rPr/>
              <a:t>“Our project addresses a common IoT gap: systems that monitor but do not react. We built an end-to-end platform where telemetry is processed into deterministic automation. The architecture integrates ingestion, automation, control, dashboarding, and reporting. On the edge side, we use a reusable ESP32 runtime and separate device modules, so onboarding new devices does not require rewriting connectivity behavior.”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Member 2 (2:30)</a:t>
            </a:r>
          </a:p>
          <a:p>
            <a:pPr lvl="0" indent="0" marL="0">
              <a:buNone/>
            </a:pPr>
            <a:r>
              <a:rPr/>
              <a:t>“The core rule computes 15-minute consumption from cumulative energy and triggers control only when conditions pass. This gives both positive and safe negative paths. We also preserve full traceability through run-step and command lifecycle records, then expose both realtime and asynchronous evidence. In the demo, you should see telemetry spike, rule pass, command dispatch, and verified feedback.”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Member 3 (9:00)</a:t>
            </a:r>
          </a:p>
          <a:p>
            <a:pPr lvl="0" indent="0" marL="0">
              <a:buNone/>
            </a:pPr>
            <a:r>
              <a:rPr/>
              <a:t>“I will now run the live simulation and show the full loop from telemetry to verified control action and reporting evidence.”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2026-02-27T01:40:28Z</dcterms:created>
  <dcterms:modified xsi:type="dcterms:W3CDTF">2026-02-27T01:40:28Z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