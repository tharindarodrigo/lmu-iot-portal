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731520"/>
            <a:ext cx="4023360" cy="40233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4389120" cy="43891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8FAFC"/>
                </a:solidFill>
                <a:latin typeface="Aptos Display"/>
              </a:defRPr>
            </a:pPr>
            <a:r>
              <a:t>Cloud IoT Energy Monitoring</a:t>
            </a:r>
          </a:p>
          <a:p>
            <a:pPr algn="l">
              <a:defRPr sz="4800" b="1">
                <a:solidFill>
                  <a:srgbClr val="F8FAFC"/>
                </a:solidFill>
                <a:latin typeface="Aptos Display"/>
              </a:defRPr>
            </a:pPr>
            <a:r>
              <a:t>and Automation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Aptos"/>
              </a:defRPr>
            </a:pPr>
            <a:r>
              <a:t>14-minute assessed presentation with live end-to-end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794760"/>
            <a:ext cx="2103120" cy="384048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t>Member 1 - Intro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3794760"/>
            <a:ext cx="2103120" cy="384048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t>Member 2 - Logic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3794760"/>
            <a:ext cx="2103120" cy="384048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t>Member 3 -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0060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Aptos"/>
              </a:defRPr>
            </a:pPr>
            <a:r>
              <a:t>Telemetry -&gt; decision -&gt; control -&gt;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 Display"/>
              </a:defRPr>
            </a:pPr>
            <a:r>
              <a:t>Run of Show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4864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t>Clear 14-minute pacing for 3 presenters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566928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111827"/>
                </a:solidFill>
                <a:latin typeface="Aptos"/>
              </a:defRPr>
            </a:pPr>
            <a:r>
              <a:t>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• 00:00-05:00 Presentation by Member 1 and Member 2</a:t>
            </a:r>
          </a:p>
          <a:p>
            <a:pPr>
              <a:spcAft>
                <a:spcPts val="9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• 05:00-14:00 Live demo by Member 3</a:t>
            </a:r>
          </a:p>
          <a:p>
            <a:pPr>
              <a:spcAft>
                <a:spcPts val="9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• Target: prove full loop, not only visualization</a:t>
            </a:r>
          </a:p>
          <a:p>
            <a:pPr>
              <a:spcAft>
                <a:spcPts val="9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• Final 40s reserved for crisp conclusion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234440"/>
            <a:ext cx="512064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111827"/>
                </a:solidFill>
                <a:latin typeface="Aptos"/>
              </a:defRPr>
            </a:pPr>
            <a:r>
              <a:t>Speaking Ownership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828800"/>
            <a:ext cx="4480560" cy="132588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11827"/>
                </a:solidFill>
                <a:latin typeface="Aptos"/>
              </a:defRPr>
            </a:pPr>
            <a:r>
              <a:t>Member 1</a:t>
            </a:r>
          </a:p>
          <a:p>
            <a:pPr>
              <a:defRPr sz="1400">
                <a:solidFill>
                  <a:srgbClr val="334155"/>
                </a:solidFill>
                <a:latin typeface="Aptos"/>
              </a:defRPr>
            </a:pPr>
            <a:r>
              <a:t>Problem, architecture, firmware strategy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3401568"/>
            <a:ext cx="4480560" cy="1325880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11827"/>
                </a:solidFill>
                <a:latin typeface="Aptos"/>
              </a:defRPr>
            </a:pPr>
            <a:r>
              <a:t>Member 2</a:t>
            </a:r>
          </a:p>
          <a:p>
            <a:pPr>
              <a:defRPr sz="1400">
                <a:solidFill>
                  <a:srgbClr val="334155"/>
                </a:solidFill>
                <a:latin typeface="Aptos"/>
              </a:defRPr>
            </a:pPr>
            <a:r>
              <a:t>Automation rule, evidence, demo handoff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4974336"/>
            <a:ext cx="4480560" cy="132588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11827"/>
                </a:solidFill>
                <a:latin typeface="Aptos"/>
              </a:defRPr>
            </a:pPr>
            <a:r>
              <a:t>Member 3</a:t>
            </a:r>
          </a:p>
          <a:p>
            <a:pPr>
              <a:defRPr sz="1400">
                <a:solidFill>
                  <a:srgbClr val="334155"/>
                </a:solidFill>
                <a:latin typeface="Aptos"/>
              </a:defRPr>
            </a:pPr>
            <a:r>
              <a:t>Live simulation and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 Display"/>
              </a:defRPr>
            </a:pPr>
            <a:r>
              <a:t>Why This Project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4864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t>From passive dashboards to active operations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44068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 b="1">
                <a:solidFill>
                  <a:srgbClr val="111827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4983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• Many IoT systems only visualize data</a:t>
            </a:r>
          </a:p>
          <a:p>
            <a:pPr>
              <a:spcAft>
                <a:spcPts val="9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• Operational decisions remain manual and delayed</a:t>
            </a:r>
          </a:p>
          <a:p>
            <a:pPr>
              <a:spcAft>
                <a:spcPts val="9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• Tool fragmentation increases integration overhead</a:t>
            </a:r>
          </a:p>
          <a:p>
            <a:pPr>
              <a:spcAft>
                <a:spcPts val="9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• Low traceability makes audit difficult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25880"/>
            <a:ext cx="5120640" cy="5074920"/>
          </a:xfrm>
          <a:prstGeom prst="roundRect">
            <a:avLst>
              <a:gd name="adj" fmla="val 8000"/>
            </a:avLst>
          </a:prstGeom>
          <a:solidFill>
            <a:srgbClr val="14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Our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74519"/>
            <a:ext cx="4617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Ingest live telemetry reliably</a:t>
            </a:r>
          </a:p>
          <a:p>
            <a:pPr>
              <a:spcAft>
                <a:spcPts val="9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Evaluate a deterministic 15-minute rule</a:t>
            </a:r>
          </a:p>
          <a:p>
            <a:pPr>
              <a:spcAft>
                <a:spcPts val="9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Dispatch control commands automatically</a:t>
            </a:r>
          </a:p>
          <a:p>
            <a:pPr>
              <a:spcAft>
                <a:spcPts val="9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Verify every action through feedback and logs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 Display"/>
              </a:defRPr>
            </a:pPr>
            <a:r>
              <a:t>End-to-End Platform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4864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t>Single operational boundary for ingest, automation, control, and reporting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420624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100" b="1">
                <a:solidFill>
                  <a:srgbClr val="111827"/>
                </a:solidFill>
                <a:latin typeface="Aptos"/>
              </a:defRPr>
            </a:pPr>
            <a:r>
              <a:t>What this architecture gives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• Unified telemetry contract</a:t>
            </a:r>
          </a:p>
          <a:p>
            <a:pPr>
              <a:spcAft>
                <a:spcPts val="9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• Near real-time condition evaluation</a:t>
            </a:r>
          </a:p>
          <a:p>
            <a:pPr>
              <a:spcAft>
                <a:spcPts val="9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• Deterministic command lifecycle</a:t>
            </a:r>
          </a:p>
          <a:p>
            <a:pPr>
              <a:spcAft>
                <a:spcPts val="9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• Shared source for dashboard + exports</a:t>
            </a:r>
          </a:p>
          <a:p>
            <a:pPr>
              <a:spcAft>
                <a:spcPts val="9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• Better governance at team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325880"/>
            <a:ext cx="6446520" cy="493776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" b="0">
                <a:solidFill>
                  <a:srgbClr val="111827"/>
                </a:solidFill>
                <a:latin typeface="Aptos"/>
              </a:defRPr>
            </a:pPr>
          </a:p>
        </p:txBody>
      </p:sp>
      <p:pic>
        <p:nvPicPr>
          <p:cNvPr id="10" name="Picture 9" descr="figure2-end-to-end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110" y="1508760"/>
            <a:ext cx="432213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 Display"/>
              </a:defRPr>
            </a:pPr>
            <a:r>
              <a:t>Design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4864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t>Why we moved from fragmented tools to an integrated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4023360" cy="493776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" b="0">
                <a:solidFill>
                  <a:srgbClr val="111827"/>
                </a:solidFill>
                <a:latin typeface="Aptos"/>
              </a:defRPr>
            </a:pPr>
          </a:p>
        </p:txBody>
      </p:sp>
      <p:pic>
        <p:nvPicPr>
          <p:cNvPr id="8" name="Picture 7" descr="figure7-proposed-vs-implemented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858" y="1508760"/>
            <a:ext cx="2659803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892040" y="1325880"/>
            <a:ext cx="66294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100" b="1">
                <a:solidFill>
                  <a:srgbClr val="111827"/>
                </a:solidFill>
                <a:latin typeface="Aptos"/>
              </a:defRPr>
            </a:pPr>
            <a:r>
              <a:t>Practical benefits in this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1874519"/>
            <a:ext cx="6126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• One governance boundary for users, workflows, and evidence</a:t>
            </a:r>
          </a:p>
          <a:p>
            <a:pPr>
              <a:spcAft>
                <a:spcPts val="9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• Fewer integration seams to maintain under time pressure</a:t>
            </a:r>
          </a:p>
          <a:p>
            <a:pPr>
              <a:spcAft>
                <a:spcPts val="9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• Lower risk of mismatched schemas and policies</a:t>
            </a:r>
          </a:p>
          <a:p>
            <a:pPr>
              <a:spcAft>
                <a:spcPts val="9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• Faster onboarding of new devices using shared contracts</a:t>
            </a:r>
          </a:p>
          <a:p>
            <a:pPr>
              <a:spcAft>
                <a:spcPts val="9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• Cleaner story for assessment and real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 Display"/>
              </a:defRPr>
            </a:pPr>
            <a:r>
              <a:t>Firmware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4864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t>Reusable ESP32 runtime + device-specific modules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486400" cy="4800600"/>
          </a:xfrm>
          <a:prstGeom prst="roundRect">
            <a:avLst>
              <a:gd name="adj" fmla="val 8000"/>
            </a:avLst>
          </a:prstGeom>
          <a:solidFill>
            <a:srgbClr val="14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8FAFC"/>
                </a:solidFill>
                <a:latin typeface="Aptos"/>
              </a:defRPr>
            </a:pPr>
            <a:r>
              <a:t>Common Runtime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WiFi/MQTT lifecycle</a:t>
            </a:r>
          </a:p>
          <a:p>
            <a:pPr>
              <a:spcAft>
                <a:spcPts val="9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LWT + presence publishing</a:t>
            </a:r>
          </a:p>
          <a:p>
            <a:pPr>
              <a:spcAft>
                <a:spcPts val="9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Reconnect and retry behavior</a:t>
            </a:r>
          </a:p>
          <a:p>
            <a:pPr>
              <a:spcAft>
                <a:spcPts val="9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Shared telemetry envelope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507492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111827"/>
                </a:solidFill>
                <a:latin typeface="Aptos"/>
              </a:defRPr>
            </a:pPr>
            <a:r>
              <a:t>Device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01168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• RGB actuator: control + state acknowledgment</a:t>
            </a:r>
          </a:p>
          <a:p>
            <a:pPr>
              <a:spcAft>
                <a:spcPts val="9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• PZEM meter: RS485 Modbus polling</a:t>
            </a:r>
          </a:p>
          <a:p>
            <a:pPr>
              <a:spcAft>
                <a:spcPts val="9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• Read-only safety for meter v1</a:t>
            </a:r>
          </a:p>
          <a:p>
            <a:pPr>
              <a:spcAft>
                <a:spcPts val="9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• Same contract, easier future expansion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5897880" y="3063240"/>
            <a:ext cx="502920" cy="822960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 Display"/>
              </a:defRPr>
            </a:pPr>
            <a:r>
              <a:t>Automation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4864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t>15-minute energy rule drives deterministic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4800600" cy="1417320"/>
          </a:xfrm>
          <a:prstGeom prst="roundRect">
            <a:avLst>
              <a:gd name="adj" fmla="val 8000"/>
            </a:avLst>
          </a:prstGeom>
          <a:solidFill>
            <a:srgbClr val="14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  <a:latin typeface="Aptos"/>
              </a:defRPr>
            </a:pPr>
            <a:r>
              <a:t>Consumption (15 min) = MAX(total_energy_kwh) - MIN(total_energy_kwh)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480060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111827"/>
                </a:solidFill>
                <a:latin typeface="Aptos"/>
              </a:defRPr>
            </a:pPr>
            <a:r>
              <a:t>Branching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6616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• If threshold passes -&gt; dispatch RGB alert command</a:t>
            </a:r>
          </a:p>
          <a:p>
            <a:pPr>
              <a:spcAft>
                <a:spcPts val="9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• If threshold fails -&gt; no control side effects</a:t>
            </a:r>
          </a:p>
          <a:p>
            <a:pPr>
              <a:spcAft>
                <a:spcPts val="9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• Every step stored in run-step records</a:t>
            </a:r>
          </a:p>
          <a:p>
            <a:pPr>
              <a:spcAft>
                <a:spcPts val="9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• Command lifecycle reconciled with device 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1325880"/>
            <a:ext cx="5806440" cy="498348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" b="0">
                <a:solidFill>
                  <a:srgbClr val="111827"/>
                </a:solidFill>
                <a:latin typeface="Aptos"/>
              </a:defRPr>
            </a:pPr>
          </a:p>
        </p:txBody>
      </p:sp>
      <p:pic>
        <p:nvPicPr>
          <p:cNvPr id="11" name="Picture 10" descr="figure3-automation-d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313146"/>
            <a:ext cx="5349240" cy="30089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 Display"/>
              </a:defRPr>
            </a:pPr>
            <a:r>
              <a:t>Live Demo Plan (Member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4864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t>9-minute simulation with measurable checkpoints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7498079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100" b="1">
                <a:solidFill>
                  <a:srgbClr val="111827"/>
                </a:solidFill>
                <a:latin typeface="Aptos"/>
              </a:defRPr>
            </a:pPr>
            <a:r>
              <a:t>Minute-by-minute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6995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• 05:00-06:00 Baseline state and expected behavior</a:t>
            </a:r>
          </a:p>
          <a:p>
            <a:pPr>
              <a:spcAft>
                <a:spcPts val="9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• 06:00-08:00 Simulated meter publishes rising telemetry</a:t>
            </a:r>
          </a:p>
          <a:p>
            <a:pPr>
              <a:spcAft>
                <a:spcPts val="9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• 08:00-09:30 Rule threshold crosses and workflow fires</a:t>
            </a:r>
          </a:p>
          <a:p>
            <a:pPr>
              <a:spcAft>
                <a:spcPts val="9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• 09:30-11:00 RGB command dispatch + acknowledgment</a:t>
            </a:r>
          </a:p>
          <a:p>
            <a:pPr>
              <a:spcAft>
                <a:spcPts val="9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• 11:00-12:30 Lifecycle evidence + CSV report</a:t>
            </a:r>
          </a:p>
          <a:p>
            <a:pPr>
              <a:spcAft>
                <a:spcPts val="9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• 12:30-13:30 Negative path: no command when rule fails</a:t>
            </a:r>
          </a:p>
          <a:p>
            <a:pPr>
              <a:spcAft>
                <a:spcPts val="9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• 13:30-14:00 Conclusion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983480"/>
          </a:xfrm>
          <a:prstGeom prst="roundRect">
            <a:avLst>
              <a:gd name="adj" fmla="val 8000"/>
            </a:avLst>
          </a:prstGeom>
          <a:solidFill>
            <a:srgbClr val="14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8FAFC"/>
                </a:solidFill>
                <a:latin typeface="Aptos"/>
              </a:defRPr>
            </a:pPr>
            <a:r>
              <a:t>4 Success Checkpoints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965960"/>
            <a:ext cx="2651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Telemetry spike visible</a:t>
            </a:r>
          </a:p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Rule passes</a:t>
            </a:r>
          </a:p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Command dispatched</a:t>
            </a:r>
          </a:p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Feedback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 Display"/>
              </a:defRPr>
            </a:pPr>
            <a:r>
              <a:t>Operational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4864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t>What assessors should see during and after the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657600" cy="379476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" b="0">
                <a:solidFill>
                  <a:srgbClr val="111827"/>
                </a:solidFill>
                <a:latin typeface="Aptos"/>
              </a:defRPr>
            </a:pPr>
          </a:p>
        </p:txBody>
      </p:sp>
      <p:pic>
        <p:nvPicPr>
          <p:cNvPr id="8" name="Picture 7" descr="figure4-io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991106"/>
            <a:ext cx="3291840" cy="23728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5440680"/>
            <a:ext cx="3657600" cy="658368"/>
          </a:xfrm>
          <a:prstGeom prst="roundRect">
            <a:avLst>
              <a:gd name="adj" fmla="val 8000"/>
            </a:avLst>
          </a:prstGeom>
          <a:solidFill>
            <a:srgbClr val="14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  <a:latin typeface="Aptos"/>
              </a:defRPr>
            </a:pPr>
            <a:r>
              <a:t>Realtime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417320"/>
            <a:ext cx="3657600" cy="379476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" b="0">
                <a:solidFill>
                  <a:srgbClr val="111827"/>
                </a:solidFill>
                <a:latin typeface="Aptos"/>
              </a:defRPr>
            </a:pPr>
          </a:p>
        </p:txBody>
      </p:sp>
      <p:pic>
        <p:nvPicPr>
          <p:cNvPr id="11" name="Picture 10" descr="figure5-device-control-feed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172843"/>
            <a:ext cx="3291840" cy="200939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160520" y="5440680"/>
            <a:ext cx="3657600" cy="658368"/>
          </a:xfrm>
          <a:prstGeom prst="roundRect">
            <a:avLst>
              <a:gd name="adj" fmla="val 8000"/>
            </a:avLst>
          </a:prstGeom>
          <a:solidFill>
            <a:srgbClr val="14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  <a:latin typeface="Aptos"/>
              </a:defRPr>
            </a:pPr>
            <a:r>
              <a:t>Control Lifecycle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417320"/>
            <a:ext cx="3657600" cy="379476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" b="0">
                <a:solidFill>
                  <a:srgbClr val="111827"/>
                </a:solidFill>
                <a:latin typeface="Aptos"/>
              </a:defRPr>
            </a:pPr>
          </a:p>
        </p:txBody>
      </p:sp>
      <p:pic>
        <p:nvPicPr>
          <p:cNvPr id="14" name="Picture 13" descr="figure6-reports-p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251710"/>
            <a:ext cx="3291840" cy="18516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680960" y="5440680"/>
            <a:ext cx="3657600" cy="658368"/>
          </a:xfrm>
          <a:prstGeom prst="roundRect">
            <a:avLst>
              <a:gd name="adj" fmla="val 8000"/>
            </a:avLst>
          </a:prstGeom>
          <a:solidFill>
            <a:srgbClr val="14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  <a:latin typeface="Aptos"/>
              </a:defRPr>
            </a:pPr>
            <a:r>
              <a:t>Reporting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1722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11827"/>
                </a:solidFill>
                <a:latin typeface="Aptos"/>
              </a:defRPr>
            </a:pPr>
            <a:r>
              <a:t>Evidence chain: ingest -&gt; evaluate -&gt; command -&gt; acknowledge -&gt; export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 Display"/>
              </a:defRPr>
            </a:pPr>
            <a:r>
              <a:t>Demo Risk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4864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t>Keep delivery stable even if live environment is noisy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48640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100" b="1">
                <a:solidFill>
                  <a:srgbClr val="111827"/>
                </a:solidFill>
                <a:latin typeface="Aptos"/>
              </a:defRPr>
            </a:pPr>
            <a:r>
              <a:t>Live risks + mitigation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4983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• Service not ready -&gt; verify tabs and baseline data 10 min before</a:t>
            </a:r>
          </a:p>
          <a:p>
            <a:pPr>
              <a:spcAft>
                <a:spcPts val="9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• Simulation lag -&gt; keep fallback snapshot tabs pre-opened</a:t>
            </a:r>
          </a:p>
          <a:p>
            <a:pPr>
              <a:spcAft>
                <a:spcPts val="9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• Rule not triggering -&gt; pre-check threshold and latest telemetry</a:t>
            </a:r>
          </a:p>
          <a:p>
            <a:pPr>
              <a:spcAft>
                <a:spcPts val="9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• UI delay -&gt; narrate lifecycle records as source of truth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325880"/>
            <a:ext cx="5029200" cy="4983480"/>
          </a:xfrm>
          <a:prstGeom prst="roundRect">
            <a:avLst>
              <a:gd name="adj" fmla="val 8000"/>
            </a:avLst>
          </a:prstGeom>
          <a:solidFill>
            <a:srgbClr val="14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100" b="1">
                <a:solidFill>
                  <a:srgbClr val="F8FAFC"/>
                </a:solidFill>
                <a:latin typeface="Aptos"/>
              </a:defRPr>
            </a:pPr>
            <a:r>
              <a:t>If live demo fails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874519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Use prepared screenshots in fixed order</a:t>
            </a:r>
          </a:p>
          <a:p>
            <a:pPr>
              <a:spcAft>
                <a:spcPts val="9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Keep the same 4 checkpoint narrative</a:t>
            </a:r>
          </a:p>
          <a:p>
            <a:pPr>
              <a:spcAft>
                <a:spcPts val="9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Show that each stage has stored evidence</a:t>
            </a:r>
          </a:p>
          <a:p>
            <a:pPr>
              <a:spcAft>
                <a:spcPts val="9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Finish with the same closing statement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 Display"/>
              </a:defRPr>
            </a:pPr>
            <a:r>
              <a:t>Scalability and Portability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4864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t>Designed for growth beyond a classroom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484632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100" b="1">
                <a:solidFill>
                  <a:srgbClr val="111827"/>
                </a:solidFill>
                <a:latin typeface="Aptos"/>
              </a:defRPr>
            </a:pPr>
            <a:r>
              <a:t>What scales well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4389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• Cloud-agnostic deployment model</a:t>
            </a:r>
          </a:p>
          <a:p>
            <a:pPr>
              <a:spcAft>
                <a:spcPts val="9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• Kubernetes-ready service decomposition</a:t>
            </a:r>
          </a:p>
          <a:p>
            <a:pPr>
              <a:spcAft>
                <a:spcPts val="9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• Schema-based device onboarding</a:t>
            </a:r>
          </a:p>
          <a:p>
            <a:pPr>
              <a:spcAft>
                <a:spcPts val="9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• Queue-backed ingestion and reporting</a:t>
            </a:r>
          </a:p>
          <a:p>
            <a:pPr>
              <a:spcAft>
                <a:spcPts val="9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• Audit-friendly command and run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325880"/>
            <a:ext cx="5715000" cy="498348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" b="0">
                <a:solidFill>
                  <a:srgbClr val="111827"/>
                </a:solidFill>
                <a:latin typeface="Aptos"/>
              </a:defRPr>
            </a:pPr>
          </a:p>
        </p:txBody>
      </p:sp>
      <p:pic>
        <p:nvPicPr>
          <p:cNvPr id="10" name="Picture 9" descr="deployment-architecture-a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47420"/>
            <a:ext cx="5257800" cy="41403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8FAFC"/>
                </a:solidFill>
                <a:latin typeface="Aptos Display"/>
              </a:defRPr>
            </a:pPr>
            <a:r>
              <a:t>Full-Loop IoT Proven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74320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A7F3D0"/>
                </a:solidFill>
                <a:latin typeface="Aptos"/>
              </a:defRPr>
            </a:pPr>
            <a:r>
              <a:t>Ingest. Decide. Act. Verify.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9784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F8FAFC"/>
                </a:solidFill>
                <a:latin typeface="Aptos"/>
              </a:defRPr>
            </a:pPr>
            <a:r>
              <a:t>Q&amp;A</a:t>
            </a:r>
          </a:p>
          <a:p>
            <a:pPr algn="l">
              <a:defRPr sz="2100" b="0">
                <a:solidFill>
                  <a:srgbClr val="F8FAFC"/>
                </a:solidFill>
                <a:latin typeface="Aptos"/>
              </a:defRPr>
            </a:pPr>
            <a:r>
              <a:t>Presentation team: Member 1, Member 2, Member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